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93" autoAdjust="0"/>
    <p:restoredTop sz="71120" autoAdjust="0"/>
  </p:normalViewPr>
  <p:slideViewPr>
    <p:cSldViewPr snapToGrid="0">
      <p:cViewPr varScale="1">
        <p:scale>
          <a:sx n="60" d="100"/>
          <a:sy n="60" d="100"/>
        </p:scale>
        <p:origin x="118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7DA635-0A67-4575-8350-A75054934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3C844CE-D8FC-4303-89F4-AA9539ECA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B1E5EF4-8CCA-4FFA-9335-08F5ECAFD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7125AEF-8825-4F8A-A468-4E9F5B1DA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05D6493-C563-4798-901C-FB965F8FD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A4FA242-AAFE-4EE8-9D0D-8F4F251C7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7F6589A-57D8-4699-994C-B2AD56193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5584F7E-5A39-47F6-9D59-E1DC2CC51BC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070CF63-8F0C-43D1-BBA2-FB60E2DFE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BB2F8AF-6804-44C7-99C5-4AB71A93E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0D1DA9-CF8D-4F6C-9AEE-C35A9BCF09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field">
            <a:extLst>
              <a:ext uri="{FF2B5EF4-FFF2-40B4-BE49-F238E27FC236}">
                <a16:creationId xmlns:a16="http://schemas.microsoft.com/office/drawing/2014/main" id="{60C82956-1098-4EFE-8615-F19471D720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317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D4F3FF75-9E01-4F6A-91F4-FA0DC4842CD9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КАРЬЕРДІ БАСҚАРУ СИМУЛЯТОРЫ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618F5A09-FE83-4C7C-8C5A-415402891C81}"/>
              </a:ext>
            </a:extLst>
          </p:cNvPr>
          <p:cNvSpPr>
            <a:spLocks noGrp="1"/>
          </p:cNvSpPr>
          <p:nvPr/>
        </p:nvSpPr>
        <p:spPr>
          <a:xfrm>
            <a:off x="495300" y="1447800"/>
            <a:ext cx="112395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7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7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7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7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7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7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7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7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7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7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07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10725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ORIGAMI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16C39C97-FE56-4024-B399-22911C0011AB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6858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1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1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Тасымалдау және</a:t>
            </a:r>
          </a:p>
          <a:p>
            <a:pPr>
              <a:defRPr sz="31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диспетчеризация</a:t>
            </a:r>
          </a:p>
        </p:txBody>
      </p:sp>
      <p:sp>
        <p:nvSpPr>
          <p:cNvPr id="6" name="field">
            <a:extLst>
              <a:ext uri="{FF2B5EF4-FFF2-40B4-BE49-F238E27FC236}">
                <a16:creationId xmlns:a16="http://schemas.microsoft.com/office/drawing/2014/main" id="{C646787C-8CD5-4F31-9847-CB237EF0C1AA}"/>
              </a:ext>
            </a:extLst>
          </p:cNvPr>
          <p:cNvSpPr>
            <a:spLocks noGrp="1"/>
          </p:cNvSpPr>
          <p:nvPr/>
        </p:nvSpPr>
        <p:spPr>
          <a:xfrm>
            <a:off x="571500" y="5200650"/>
            <a:ext cx="11001375" cy="9525"/>
          </a:xfrm>
          <a:prstGeom prst="rect">
            <a:avLst/>
          </a:prstGeom>
          <a:solidFill>
            <a:srgbClr val="FFFCF6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61C8CA1A-7BB8-49B1-AADD-6C54AC7C778B}"/>
              </a:ext>
            </a:extLst>
          </p:cNvPr>
          <p:cNvSpPr>
            <a:spLocks noGrp="1"/>
          </p:cNvSpPr>
          <p:nvPr/>
        </p:nvSpPr>
        <p:spPr>
          <a:xfrm>
            <a:off x="571500" y="552450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Мерген Динара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CE3A8CA5-B4A3-4902-ABD4-4AD14A48E82F}"/>
              </a:ext>
            </a:extLst>
          </p:cNvPr>
          <p:cNvSpPr>
            <a:spLocks noGrp="1"/>
          </p:cNvSpPr>
          <p:nvPr/>
        </p:nvSpPr>
        <p:spPr>
          <a:xfrm>
            <a:off x="7143750" y="557212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725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openegiz.ecoout.com.kz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77F44C16-B6D6-4808-938D-779C2634C316}"/>
              </a:ext>
            </a:extLst>
          </p:cNvPr>
          <p:cNvSpPr>
            <a:spLocks noGrp="1"/>
          </p:cNvSpPr>
          <p:nvPr/>
        </p:nvSpPr>
        <p:spPr>
          <a:xfrm>
            <a:off x="571500" y="64008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9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endParaRPr sz="975" b="0" dirty="0">
              <a:solidFill>
                <a:srgbClr val="CFC3B1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03131897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6" presetClass="emph" presetSubtype="0" fill="hold" nodeType="withEffect">
                            <p:stCondLst>
                              <p:cond delay="0"/>
                            </p:stCondLst>
                            <p:childTnLst>
                              <p:animScale zoomContents="1">
                                <p:cBhvr>
                                  <p:cTn id="5" dur="4000" fill="hold"/>
                                  <p:tgtEl>
                                    <p:spTgt spid="10"/>
                                  </p:tgtEl>
                                </p:cBhvr>
                                <p:from x="108000" y="108000"/>
                                <p:to x="100000" y="100000"/>
                              </p:animScale>
                            </p:childTnLst>
                          </p:cTn>
                        </p:par>
                        <p:par>
                          <p:cTn id="6" presetID="10" presetClass="entr" presetSubtype="0" fill="hold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7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6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0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6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nodeType="with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6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nodeType="with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16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6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0">
            <a:extLst>
              <a:ext uri="{FF2B5EF4-FFF2-40B4-BE49-F238E27FC236}">
                <a16:creationId xmlns:a16="http://schemas.microsoft.com/office/drawing/2014/main" id="{C432523E-772E-429F-AC61-7A74CB7FDC7E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ЖОБА ТҰЖЫРЫМДАМАСЫ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2CF7E26-BF9E-44F0-8C35-0C8A390E2BF1}"/>
              </a:ext>
            </a:extLst>
          </p:cNvPr>
          <p:cNvSpPr>
            <a:spLocks noGrp="1"/>
          </p:cNvSpPr>
          <p:nvPr/>
        </p:nvSpPr>
        <p:spPr>
          <a:xfrm>
            <a:off x="571500" y="1028700"/>
            <a:ext cx="6715125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57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7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7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7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7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7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7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7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7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7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57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Бір жол.</a:t>
            </a:r>
          </a:p>
          <a:p>
            <a:pPr>
              <a:defRPr sz="57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Төрт машина.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C5F7DF-76C6-4D85-8A02-74B39FCF9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48" r="31748"/>
          <a:stretch>
            <a:fillRect/>
          </a:stretch>
        </p:blipFill>
        <p:spPr>
          <a:xfrm>
            <a:off x="7743825" y="0"/>
            <a:ext cx="4448175" cy="6858000"/>
          </a:xfrm>
          <a:prstGeom prst="rect">
            <a:avLst/>
          </a:prstGeom>
        </p:spPr>
      </p:pic>
      <p:sp>
        <p:nvSpPr>
          <p:cNvPr id="4" name="text-2">
            <a:extLst>
              <a:ext uri="{FF2B5EF4-FFF2-40B4-BE49-F238E27FC236}">
                <a16:creationId xmlns:a16="http://schemas.microsoft.com/office/drawing/2014/main" id="{58640609-BED6-4A38-8219-D8EC33BFB627}"/>
              </a:ext>
            </a:extLst>
          </p:cNvPr>
          <p:cNvSpPr>
            <a:spLocks noGrp="1"/>
          </p:cNvSpPr>
          <p:nvPr/>
        </p:nvSpPr>
        <p:spPr>
          <a:xfrm>
            <a:off x="600075" y="3676650"/>
            <a:ext cx="666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Қарсы ағын учаскені босатқанша</a:t>
            </a:r>
          </a:p>
          <a:p>
            <a:pPr>
              <a:defRPr sz="21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көлік күтуге мәжбүр.</a:t>
            </a:r>
          </a:p>
        </p:txBody>
      </p:sp>
      <p:sp>
        <p:nvSpPr>
          <p:cNvPr id="5" name="field">
            <a:extLst>
              <a:ext uri="{FF2B5EF4-FFF2-40B4-BE49-F238E27FC236}">
                <a16:creationId xmlns:a16="http://schemas.microsoft.com/office/drawing/2014/main" id="{84858312-6B02-4CFD-A641-E9CFB8DF2C61}"/>
              </a:ext>
            </a:extLst>
          </p:cNvPr>
          <p:cNvSpPr>
            <a:spLocks noGrp="1"/>
          </p:cNvSpPr>
          <p:nvPr/>
        </p:nvSpPr>
        <p:spPr>
          <a:xfrm>
            <a:off x="571500" y="4819650"/>
            <a:ext cx="6524625" cy="9525"/>
          </a:xfrm>
          <a:prstGeom prst="rect">
            <a:avLst/>
          </a:prstGeom>
          <a:solidFill>
            <a:srgbClr val="D4C7B4"/>
          </a:solidFill>
          <a:ln w="0">
            <a:noFill/>
            <a:prstDash val="solid"/>
          </a:ln>
        </p:spPr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62E5FDBA-9CF1-4C7F-A15B-F830FDFC8A4D}"/>
              </a:ext>
            </a:extLst>
          </p:cNvPr>
          <p:cNvSpPr>
            <a:spLocks noGrp="1"/>
          </p:cNvSpPr>
          <p:nvPr/>
        </p:nvSpPr>
        <p:spPr>
          <a:xfrm>
            <a:off x="571500" y="5095875"/>
            <a:ext cx="6572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0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ДИСПЕТЧЕРДІҢ ШЕШІМІ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A3F3808C-2C99-417A-9E2D-BC1441BD1690}"/>
              </a:ext>
            </a:extLst>
          </p:cNvPr>
          <p:cNvSpPr>
            <a:spLocks noGrp="1"/>
          </p:cNvSpPr>
          <p:nvPr/>
        </p:nvSpPr>
        <p:spPr>
          <a:xfrm>
            <a:off x="571500" y="5467350"/>
            <a:ext cx="666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Кімді өткізу? Кімді күтуге қою?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7175CFE5-5D02-41FA-9F38-435259BB08FD}"/>
              </a:ext>
            </a:extLst>
          </p:cNvPr>
          <p:cNvSpPr>
            <a:spLocks noGrp="1"/>
          </p:cNvSpPr>
          <p:nvPr/>
        </p:nvSpPr>
        <p:spPr>
          <a:xfrm>
            <a:off x="571500" y="6029325"/>
            <a:ext cx="6810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1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1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dirty="0" err="1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Ашық</a:t>
            </a:r>
            <a:r>
              <a:rPr sz="1125" b="0" dirty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0" dirty="0" err="1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карьердің</a:t>
            </a:r>
            <a:r>
              <a:rPr sz="1125" b="0" dirty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0" dirty="0" err="1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көлік</a:t>
            </a:r>
            <a:r>
              <a:rPr sz="1125" b="0" dirty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0" dirty="0" err="1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учаскесі</a:t>
            </a:r>
            <a:r>
              <a:rPr sz="1125" b="0" dirty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. </a:t>
            </a:r>
            <a:r>
              <a:rPr sz="1125" b="0" dirty="0" err="1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Таңдау</a:t>
            </a:r>
            <a:r>
              <a:rPr sz="1125" b="0" dirty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0" dirty="0" err="1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негізі</a:t>
            </a:r>
            <a:r>
              <a:rPr sz="1125" b="0" dirty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: USBM IC 8758 [1].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83094C26-1536-4246-99CD-6C64DFF040CC}"/>
              </a:ext>
            </a:extLst>
          </p:cNvPr>
          <p:cNvSpPr>
            <a:spLocks noGrp="1"/>
          </p:cNvSpPr>
          <p:nvPr/>
        </p:nvSpPr>
        <p:spPr>
          <a:xfrm>
            <a:off x="8229600" y="6429375"/>
            <a:ext cx="3476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900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00" b="0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Тұжырымдамалық иллюстрация</a:t>
            </a:r>
          </a:p>
        </p:txBody>
      </p:sp>
    </p:spTree>
    <p:extLst>
      <p:ext uri="{BB962C8B-B14F-4D97-AF65-F5344CB8AC3E}">
        <p14:creationId xmlns:p14="http://schemas.microsoft.com/office/powerpoint/2010/main" val="115187060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6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6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6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8E10ACC-2C6E-4FEB-B38E-D702F0F2AD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90" b="15990"/>
          <a:stretch>
            <a:fillRect/>
          </a:stretch>
        </p:blipFill>
        <p:spPr>
          <a:xfrm>
            <a:off x="0" y="0"/>
            <a:ext cx="12192000" cy="4667250"/>
          </a:xfrm>
          <a:prstGeom prst="rect">
            <a:avLst/>
          </a:prstGeom>
        </p:spPr>
      </p:pic>
      <p:sp>
        <p:nvSpPr>
          <p:cNvPr id="2" name="field">
            <a:extLst>
              <a:ext uri="{FF2B5EF4-FFF2-40B4-BE49-F238E27FC236}">
                <a16:creationId xmlns:a16="http://schemas.microsoft.com/office/drawing/2014/main" id="{3944FCD0-687B-4D6D-BFCE-42689C61AA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667250"/>
          </a:xfrm>
          <a:prstGeom prst="rect">
            <a:avLst/>
          </a:prstGeom>
          <a:solidFill>
            <a:srgbClr val="111418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33B2BFA5-035D-493B-BD85-CE216414E63B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СИНТЕТИКАЛЫҚ КАРЬЕР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EAB70847-C036-474A-9D4F-328A1B8799C2}"/>
              </a:ext>
            </a:extLst>
          </p:cNvPr>
          <p:cNvSpPr>
            <a:spLocks noGrp="1"/>
          </p:cNvSpPr>
          <p:nvPr/>
        </p:nvSpPr>
        <p:spPr>
          <a:xfrm>
            <a:off x="571500" y="990600"/>
            <a:ext cx="10953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Карьердің кеңістігі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96C7C790-9117-41D9-B098-F13E0E261B58}"/>
              </a:ext>
            </a:extLst>
          </p:cNvPr>
          <p:cNvSpPr>
            <a:spLocks noGrp="1"/>
          </p:cNvSpPr>
          <p:nvPr/>
        </p:nvSpPr>
        <p:spPr>
          <a:xfrm>
            <a:off x="571500" y="4552950"/>
            <a:ext cx="3524250" cy="1057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168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2B2A9552-473D-4D0F-AA41-599146DD6400}"/>
              </a:ext>
            </a:extLst>
          </p:cNvPr>
          <p:cNvSpPr>
            <a:spLocks noGrp="1"/>
          </p:cNvSpPr>
          <p:nvPr/>
        </p:nvSpPr>
        <p:spPr>
          <a:xfrm>
            <a:off x="571500" y="56578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м тереңдік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1E192ACF-4803-4C53-BE3D-876FE1E9C09C}"/>
              </a:ext>
            </a:extLst>
          </p:cNvPr>
          <p:cNvSpPr>
            <a:spLocks noGrp="1"/>
          </p:cNvSpPr>
          <p:nvPr/>
        </p:nvSpPr>
        <p:spPr>
          <a:xfrm>
            <a:off x="4429125" y="4552950"/>
            <a:ext cx="3524250" cy="1057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BF35C48D-DEA0-4293-9D54-F250939C1EDD}"/>
              </a:ext>
            </a:extLst>
          </p:cNvPr>
          <p:cNvSpPr>
            <a:spLocks noGrp="1"/>
          </p:cNvSpPr>
          <p:nvPr/>
        </p:nvSpPr>
        <p:spPr>
          <a:xfrm>
            <a:off x="4429125" y="56578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ярус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5C996594-9C52-48FD-915C-4732AA484C73}"/>
              </a:ext>
            </a:extLst>
          </p:cNvPr>
          <p:cNvSpPr>
            <a:spLocks noGrp="1"/>
          </p:cNvSpPr>
          <p:nvPr/>
        </p:nvSpPr>
        <p:spPr>
          <a:xfrm>
            <a:off x="8286750" y="4552950"/>
            <a:ext cx="3524250" cy="1057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6600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2,99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379EA1BA-278F-4374-A769-A3FA59A484E3}"/>
              </a:ext>
            </a:extLst>
          </p:cNvPr>
          <p:cNvSpPr>
            <a:spLocks noGrp="1"/>
          </p:cNvSpPr>
          <p:nvPr/>
        </p:nvSpPr>
        <p:spPr>
          <a:xfrm>
            <a:off x="8286750" y="56578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км карьер ішіндегі жол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3A5170D9-C165-460E-B603-B3437FCE667B}"/>
              </a:ext>
            </a:extLst>
          </p:cNvPr>
          <p:cNvSpPr>
            <a:spLocks noGrp="1"/>
          </p:cNvSpPr>
          <p:nvPr/>
        </p:nvSpPr>
        <p:spPr>
          <a:xfrm>
            <a:off x="571500" y="62674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75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Диспетчер маршруты кіреберіс жолдармен бірге 3,60 км. Геодезиялық байланысы жоқ.</a:t>
            </a:r>
          </a:p>
        </p:txBody>
      </p:sp>
    </p:spTree>
    <p:extLst>
      <p:ext uri="{BB962C8B-B14F-4D97-AF65-F5344CB8AC3E}">
        <p14:creationId xmlns:p14="http://schemas.microsoft.com/office/powerpoint/2010/main" val="102166861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6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6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64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6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89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6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6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113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5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ield">
            <a:extLst>
              <a:ext uri="{FF2B5EF4-FFF2-40B4-BE49-F238E27FC236}">
                <a16:creationId xmlns:a16="http://schemas.microsoft.com/office/drawing/2014/main" id="{C85D9B0D-E2F5-4BFA-82FC-DA1650327ED4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71A1D"/>
          </a:solidFill>
          <a:ln w="0">
            <a:noFill/>
            <a:prstDash val="solid"/>
          </a:ln>
        </p:spPr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6C1EC68-ED9E-4AB9-BA71-99CD58574D17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ПАЙДАЛАНУ ТӘСІЛДЕРІ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63E70A7D-3523-4218-BE7F-A56C346F9B31}"/>
              </a:ext>
            </a:extLst>
          </p:cNvPr>
          <p:cNvSpPr>
            <a:spLocks noGrp="1"/>
          </p:cNvSpPr>
          <p:nvPr/>
        </p:nvSpPr>
        <p:spPr>
          <a:xfrm>
            <a:off x="571500" y="990600"/>
            <a:ext cx="1104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51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1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1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1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1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1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1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1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1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1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51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5175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Екі режим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40269FB8-F5EC-4DFF-A191-26482E267E80}"/>
              </a:ext>
            </a:extLst>
          </p:cNvPr>
          <p:cNvSpPr>
            <a:spLocks noGrp="1"/>
          </p:cNvSpPr>
          <p:nvPr/>
        </p:nvSpPr>
        <p:spPr>
          <a:xfrm>
            <a:off x="571500" y="2447925"/>
            <a:ext cx="4572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2D89560E-DB9F-49BE-AC10-0380A3C61552}"/>
              </a:ext>
            </a:extLst>
          </p:cNvPr>
          <p:cNvSpPr>
            <a:spLocks noGrp="1"/>
          </p:cNvSpPr>
          <p:nvPr/>
        </p:nvSpPr>
        <p:spPr>
          <a:xfrm>
            <a:off x="571500" y="3886200"/>
            <a:ext cx="5143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4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4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Үйрену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B807F05D-35FE-4A26-8538-C77BCBBAAAAF}"/>
              </a:ext>
            </a:extLst>
          </p:cNvPr>
          <p:cNvSpPr>
            <a:spLocks noGrp="1"/>
          </p:cNvSpPr>
          <p:nvPr/>
        </p:nvSpPr>
        <p:spPr>
          <a:xfrm>
            <a:off x="571500" y="4762500"/>
            <a:ext cx="50958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9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Бір самосвал, бір экскаватор.</a:t>
            </a:r>
          </a:p>
          <a:p>
            <a:pPr>
              <a:defRPr sz="19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Алғашқы рейс және парк өсіру.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2D68BF7-DF54-4195-BB7F-923A993C0D5E}"/>
              </a:ext>
            </a:extLst>
          </p:cNvPr>
          <p:cNvSpPr>
            <a:spLocks noGrp="1"/>
          </p:cNvSpPr>
          <p:nvPr/>
        </p:nvSpPr>
        <p:spPr>
          <a:xfrm>
            <a:off x="571500" y="590550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00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career.html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F142B59F-AA40-4BB6-B3EE-099AED2AD527}"/>
              </a:ext>
            </a:extLst>
          </p:cNvPr>
          <p:cNvSpPr>
            <a:spLocks noGrp="1"/>
          </p:cNvSpPr>
          <p:nvPr/>
        </p:nvSpPr>
        <p:spPr>
          <a:xfrm>
            <a:off x="6715125" y="2447925"/>
            <a:ext cx="4572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7650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F05D2401-8BB8-4F67-A1E4-7FE81088EE05}"/>
              </a:ext>
            </a:extLst>
          </p:cNvPr>
          <p:cNvSpPr>
            <a:spLocks noGrp="1"/>
          </p:cNvSpPr>
          <p:nvPr/>
        </p:nvSpPr>
        <p:spPr>
          <a:xfrm>
            <a:off x="6715125" y="3886200"/>
            <a:ext cx="4857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4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4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Басқару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2668D4AD-6C2E-4494-808D-C3CC6FC468B9}"/>
              </a:ext>
            </a:extLst>
          </p:cNvPr>
          <p:cNvSpPr>
            <a:spLocks noGrp="1"/>
          </p:cNvSpPr>
          <p:nvPr/>
        </p:nvSpPr>
        <p:spPr>
          <a:xfrm>
            <a:off x="6715125" y="4762500"/>
            <a:ext cx="4905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9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Төрт самосвалдың қозғалысы.</a:t>
            </a:r>
          </a:p>
          <a:p>
            <a:pPr>
              <a:defRPr sz="19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Автоматты не қолмен басқару.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3F2D5D47-523C-4998-86C6-04DCA8231CD1}"/>
              </a:ext>
            </a:extLst>
          </p:cNvPr>
          <p:cNvSpPr>
            <a:spLocks noGrp="1"/>
          </p:cNvSpPr>
          <p:nvPr/>
        </p:nvSpPr>
        <p:spPr>
          <a:xfrm>
            <a:off x="6715125" y="590550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dispatch.html?mode=classic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A972F44E-DBD4-4BC2-9FAB-10D928FEB918}"/>
              </a:ext>
            </a:extLst>
          </p:cNvPr>
          <p:cNvSpPr>
            <a:spLocks noGrp="1"/>
          </p:cNvSpPr>
          <p:nvPr/>
        </p:nvSpPr>
        <p:spPr>
          <a:xfrm>
            <a:off x="571500" y="642937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ORIGAMI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6950C1C5-74D6-4465-9249-EB76D3FF6DB6}"/>
              </a:ext>
            </a:extLst>
          </p:cNvPr>
          <p:cNvSpPr>
            <a:spLocks noGrp="1"/>
          </p:cNvSpPr>
          <p:nvPr/>
        </p:nvSpPr>
        <p:spPr>
          <a:xfrm>
            <a:off x="11049000" y="63912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3235127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6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6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6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6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6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5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0">
            <a:extLst>
              <a:ext uri="{FF2B5EF4-FFF2-40B4-BE49-F238E27FC236}">
                <a16:creationId xmlns:a16="http://schemas.microsoft.com/office/drawing/2014/main" id="{C72CFFDF-20E1-43BB-AF7E-2E2A0C066E0E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ТЕХНОЛОГИЯЛЫҚ ПРОЦЕСС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1CE21069-D46E-4D0D-AE2F-6F56B2168CAA}"/>
              </a:ext>
            </a:extLst>
          </p:cNvPr>
          <p:cNvSpPr>
            <a:spLocks noGrp="1"/>
          </p:cNvSpPr>
          <p:nvPr/>
        </p:nvSpPr>
        <p:spPr>
          <a:xfrm>
            <a:off x="571500" y="990600"/>
            <a:ext cx="10953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9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9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9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9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9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9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9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9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9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9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97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3975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Бір рейстің төрт қадамы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899B4CE-8742-48E2-8FF1-4E8E10DCD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76950" y="2476500"/>
            <a:ext cx="5715000" cy="4000500"/>
          </a:xfrm>
          <a:prstGeom prst="rect">
            <a:avLst/>
          </a:prstGeom>
        </p:spPr>
      </p:pic>
      <p:sp>
        <p:nvSpPr>
          <p:cNvPr id="4" name="text-2">
            <a:extLst>
              <a:ext uri="{FF2B5EF4-FFF2-40B4-BE49-F238E27FC236}">
                <a16:creationId xmlns:a16="http://schemas.microsoft.com/office/drawing/2014/main" id="{CD665FC1-9B8C-4D0C-9DC3-FCC74730FA27}"/>
              </a:ext>
            </a:extLst>
          </p:cNvPr>
          <p:cNvSpPr>
            <a:spLocks noGrp="1"/>
          </p:cNvSpPr>
          <p:nvPr/>
        </p:nvSpPr>
        <p:spPr>
          <a:xfrm>
            <a:off x="571500" y="2362200"/>
            <a:ext cx="666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CCD1E11D-156E-43E8-981F-41BA3E6022DF}"/>
              </a:ext>
            </a:extLst>
          </p:cNvPr>
          <p:cNvSpPr>
            <a:spLocks noGrp="1"/>
          </p:cNvSpPr>
          <p:nvPr/>
        </p:nvSpPr>
        <p:spPr>
          <a:xfrm>
            <a:off x="1495425" y="2333625"/>
            <a:ext cx="438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Кен тиеу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2DBFC84F-6601-4874-811C-6E55B7247F46}"/>
              </a:ext>
            </a:extLst>
          </p:cNvPr>
          <p:cNvSpPr>
            <a:spLocks noGrp="1"/>
          </p:cNvSpPr>
          <p:nvPr/>
        </p:nvSpPr>
        <p:spPr>
          <a:xfrm>
            <a:off x="1495425" y="27622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Экскаватор самосвалға кен тиейді.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FC146900-636F-4901-8F3F-EAC6A81EB67C}"/>
              </a:ext>
            </a:extLst>
          </p:cNvPr>
          <p:cNvSpPr>
            <a:spLocks noGrp="1"/>
          </p:cNvSpPr>
          <p:nvPr/>
        </p:nvSpPr>
        <p:spPr>
          <a:xfrm>
            <a:off x="571500" y="3286125"/>
            <a:ext cx="666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5E364139-3B68-435C-8A06-D2BAE4305105}"/>
              </a:ext>
            </a:extLst>
          </p:cNvPr>
          <p:cNvSpPr>
            <a:spLocks noGrp="1"/>
          </p:cNvSpPr>
          <p:nvPr/>
        </p:nvSpPr>
        <p:spPr>
          <a:xfrm>
            <a:off x="1495425" y="3257550"/>
            <a:ext cx="438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Жүкпен рейс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1CB8CEFC-B3F2-4C29-BA1D-587DF8FD5D39}"/>
              </a:ext>
            </a:extLst>
          </p:cNvPr>
          <p:cNvSpPr>
            <a:spLocks noGrp="1"/>
          </p:cNvSpPr>
          <p:nvPr/>
        </p:nvSpPr>
        <p:spPr>
          <a:xfrm>
            <a:off x="1495425" y="3686175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Машина түсіру нүктесіне көтеріледі.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448D1B9D-9094-42C2-8CC5-5FE91CCE0E86}"/>
              </a:ext>
            </a:extLst>
          </p:cNvPr>
          <p:cNvSpPr>
            <a:spLocks noGrp="1"/>
          </p:cNvSpPr>
          <p:nvPr/>
        </p:nvSpPr>
        <p:spPr>
          <a:xfrm>
            <a:off x="571500" y="4210050"/>
            <a:ext cx="666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853F9182-A5BB-4201-A566-D0D509A6B251}"/>
              </a:ext>
            </a:extLst>
          </p:cNvPr>
          <p:cNvSpPr>
            <a:spLocks noGrp="1"/>
          </p:cNvSpPr>
          <p:nvPr/>
        </p:nvSpPr>
        <p:spPr>
          <a:xfrm>
            <a:off x="1495425" y="4181475"/>
            <a:ext cx="438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Жүк түсіру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7594A288-3820-44E4-A6C9-DCB5E1E40F82}"/>
              </a:ext>
            </a:extLst>
          </p:cNvPr>
          <p:cNvSpPr>
            <a:spLocks noGrp="1"/>
          </p:cNvSpPr>
          <p:nvPr/>
        </p:nvSpPr>
        <p:spPr>
          <a:xfrm>
            <a:off x="1495425" y="461010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Кен қабылдау нүктесіне жеткізіледі.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828BB156-E514-4E11-93E8-42688D661427}"/>
              </a:ext>
            </a:extLst>
          </p:cNvPr>
          <p:cNvSpPr>
            <a:spLocks noGrp="1"/>
          </p:cNvSpPr>
          <p:nvPr/>
        </p:nvSpPr>
        <p:spPr>
          <a:xfrm>
            <a:off x="571500" y="5133975"/>
            <a:ext cx="666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4" name="text-12">
            <a:extLst>
              <a:ext uri="{FF2B5EF4-FFF2-40B4-BE49-F238E27FC236}">
                <a16:creationId xmlns:a16="http://schemas.microsoft.com/office/drawing/2014/main" id="{DD953E20-5F57-4ED3-8DBE-F6482BEBE068}"/>
              </a:ext>
            </a:extLst>
          </p:cNvPr>
          <p:cNvSpPr>
            <a:spLocks noGrp="1"/>
          </p:cNvSpPr>
          <p:nvPr/>
        </p:nvSpPr>
        <p:spPr>
          <a:xfrm>
            <a:off x="1495425" y="5105400"/>
            <a:ext cx="438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Бос рейс</a:t>
            </a:r>
          </a:p>
        </p:txBody>
      </p:sp>
      <p:sp>
        <p:nvSpPr>
          <p:cNvPr id="15" name="text-13">
            <a:extLst>
              <a:ext uri="{FF2B5EF4-FFF2-40B4-BE49-F238E27FC236}">
                <a16:creationId xmlns:a16="http://schemas.microsoft.com/office/drawing/2014/main" id="{C148FBC3-91AF-47D5-A4F6-DA194B3E0969}"/>
              </a:ext>
            </a:extLst>
          </p:cNvPr>
          <p:cNvSpPr>
            <a:spLocks noGrp="1"/>
          </p:cNvSpPr>
          <p:nvPr/>
        </p:nvSpPr>
        <p:spPr>
          <a:xfrm>
            <a:off x="1495425" y="5534025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Самосвал қайтадан тиеуге оралады.</a:t>
            </a:r>
          </a:p>
        </p:txBody>
      </p:sp>
      <p:sp>
        <p:nvSpPr>
          <p:cNvPr id="16" name="text-14">
            <a:extLst>
              <a:ext uri="{FF2B5EF4-FFF2-40B4-BE49-F238E27FC236}">
                <a16:creationId xmlns:a16="http://schemas.microsoft.com/office/drawing/2014/main" id="{72F52C41-C9BB-49B2-B967-C9C6910AFA00}"/>
              </a:ext>
            </a:extLst>
          </p:cNvPr>
          <p:cNvSpPr>
            <a:spLocks noGrp="1"/>
          </p:cNvSpPr>
          <p:nvPr/>
        </p:nvSpPr>
        <p:spPr>
          <a:xfrm>
            <a:off x="571500" y="642937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ORIGAMI</a:t>
            </a:r>
          </a:p>
        </p:txBody>
      </p:sp>
      <p:sp>
        <p:nvSpPr>
          <p:cNvPr id="17" name="text-15">
            <a:extLst>
              <a:ext uri="{FF2B5EF4-FFF2-40B4-BE49-F238E27FC236}">
                <a16:creationId xmlns:a16="http://schemas.microsoft.com/office/drawing/2014/main" id="{6BA8F5B5-ABA7-4696-ACCF-A31B2F8C3DAB}"/>
              </a:ext>
            </a:extLst>
          </p:cNvPr>
          <p:cNvSpPr>
            <a:spLocks noGrp="1"/>
          </p:cNvSpPr>
          <p:nvPr/>
        </p:nvSpPr>
        <p:spPr>
          <a:xfrm>
            <a:off x="11049000" y="63912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2422448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2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9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  <p:animMotion origin="layout" path="M 0.18 0 L 0 0 E" pathEditMode="relative" ptsTypes="AA">
                                <p:cBhvr>
                                  <p:cTn id="10" dur="1600" fill="hold"/>
                                  <p:tgtEl>
                                    <p:spTgt spid="3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  <p:par>
                          <p:cTn id="11" presetID="10" presetClass="entr" presetSubtype="0" fill="hold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12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6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18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6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1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6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4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6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7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6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30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65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" presetID="10" presetClass="entr" presetSubtype="0" fill="hold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33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65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presetID="10" presetClass="entr" presetSubtype="0" fill="hold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36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65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8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39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65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42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65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45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65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8ECCDD41-9379-4ED9-A4F9-1B82E4C6519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ТРАНСПОРТ ЖӘНЕ ДИСПЕТЧЕРИЗАЦИЯ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FE2475D1-E8A8-4D9F-85A2-690EBAECCDA3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6000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47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7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7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7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7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7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7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7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7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7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47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4725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Жүкке</a:t>
            </a:r>
          </a:p>
          <a:p>
            <a:pPr>
              <a:defRPr sz="47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4725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басымдық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C7E55E31-3D5D-43CF-B2A9-EBEF1A3716BB}"/>
              </a:ext>
            </a:extLst>
          </p:cNvPr>
          <p:cNvSpPr>
            <a:spLocks noGrp="1"/>
          </p:cNvSpPr>
          <p:nvPr/>
        </p:nvSpPr>
        <p:spPr>
          <a:xfrm>
            <a:off x="571500" y="3095625"/>
            <a:ext cx="666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61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61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61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61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61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61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61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61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61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61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61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4 × 100 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060DC3-C37C-4B5B-B291-2595A13F9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38688" y="1924050"/>
            <a:ext cx="7286625" cy="4857750"/>
          </a:xfrm>
          <a:prstGeom prst="rect">
            <a:avLst/>
          </a:prstGeom>
        </p:spPr>
      </p:pic>
      <p:sp>
        <p:nvSpPr>
          <p:cNvPr id="5" name="field">
            <a:extLst>
              <a:ext uri="{FF2B5EF4-FFF2-40B4-BE49-F238E27FC236}">
                <a16:creationId xmlns:a16="http://schemas.microsoft.com/office/drawing/2014/main" id="{66EB8B37-16B0-4BE8-A46E-CDB5F216307B}"/>
              </a:ext>
            </a:extLst>
          </p:cNvPr>
          <p:cNvSpPr>
            <a:spLocks noGrp="1"/>
          </p:cNvSpPr>
          <p:nvPr/>
        </p:nvSpPr>
        <p:spPr>
          <a:xfrm>
            <a:off x="571500" y="4552950"/>
            <a:ext cx="3714750" cy="9525"/>
          </a:xfrm>
          <a:prstGeom prst="rect">
            <a:avLst/>
          </a:prstGeom>
          <a:solidFill>
            <a:srgbClr val="D4C7B4"/>
          </a:solidFill>
          <a:ln w="0">
            <a:noFill/>
            <a:prstDash val="solid"/>
          </a:ln>
        </p:spPr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CBBC0B78-90BC-4ADD-9C68-4D3E223BD483}"/>
              </a:ext>
            </a:extLst>
          </p:cNvPr>
          <p:cNvSpPr>
            <a:spLocks noGrp="1"/>
          </p:cNvSpPr>
          <p:nvPr/>
        </p:nvSpPr>
        <p:spPr>
          <a:xfrm>
            <a:off x="571500" y="4810125"/>
            <a:ext cx="3810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8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8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8 разъезд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3E3A88E9-ADE5-4310-B128-5C856710634B}"/>
              </a:ext>
            </a:extLst>
          </p:cNvPr>
          <p:cNvSpPr>
            <a:spLocks noGrp="1"/>
          </p:cNvSpPr>
          <p:nvPr/>
        </p:nvSpPr>
        <p:spPr>
          <a:xfrm>
            <a:off x="571500" y="5505450"/>
            <a:ext cx="4191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7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Келесі учаскені резервтеу.</a:t>
            </a:r>
          </a:p>
          <a:p>
            <a:pPr>
              <a:defRPr sz="172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Жүк тиелген көлікке басымдық.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24F6E8B8-97C3-437F-8F98-DA2DF4F89BD0}"/>
              </a:ext>
            </a:extLst>
          </p:cNvPr>
          <p:cNvSpPr>
            <a:spLocks noGrp="1"/>
          </p:cNvSpPr>
          <p:nvPr/>
        </p:nvSpPr>
        <p:spPr>
          <a:xfrm>
            <a:off x="7410450" y="6457950"/>
            <a:ext cx="423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9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Тұжырымдамалық техника иллюстрациясы</a:t>
            </a:r>
          </a:p>
        </p:txBody>
      </p:sp>
    </p:spTree>
    <p:extLst>
      <p:ext uri="{BB962C8B-B14F-4D97-AF65-F5344CB8AC3E}">
        <p14:creationId xmlns:p14="http://schemas.microsoft.com/office/powerpoint/2010/main" val="18644570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6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2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9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  <p:animMotion origin="layout" path="M 0.18 0 L 0 0 E" pathEditMode="relative" ptsTypes="AA">
                                <p:cBhvr>
                                  <p:cTn id="13" dur="16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  <p:attrName>ppt_y</p:attrName>
                                  </p:attrNameLst>
                                </p:cBhvr>
                              </p:animMotion>
                            </p:childTnLst>
                          </p:cTn>
                        </p:par>
                        <p:par>
                          <p:cTn id="14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8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6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887CFE34-1C66-4BF3-BEBD-AB32115E89B3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АУЫСЫМНЫҢ БАСТАПҚЫ ШАРТТАРЫ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B3F4734-A7FF-4561-8755-643E46CE9C40}"/>
              </a:ext>
            </a:extLst>
          </p:cNvPr>
          <p:cNvSpPr>
            <a:spLocks noGrp="1"/>
          </p:cNvSpPr>
          <p:nvPr/>
        </p:nvSpPr>
        <p:spPr>
          <a:xfrm>
            <a:off x="571500" y="1257300"/>
            <a:ext cx="6667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92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92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92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92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92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92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92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92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92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92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92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Ауысым жоспары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1622BE12-EC22-4A19-B727-BFC2CC9C1905}"/>
              </a:ext>
            </a:extLst>
          </p:cNvPr>
          <p:cNvSpPr>
            <a:spLocks noGrp="1"/>
          </p:cNvSpPr>
          <p:nvPr/>
        </p:nvSpPr>
        <p:spPr>
          <a:xfrm>
            <a:off x="428625" y="2190750"/>
            <a:ext cx="7524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12000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500 т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27A7135C-44EB-4E48-9530-CC777C65AC17}"/>
              </a:ext>
            </a:extLst>
          </p:cNvPr>
          <p:cNvSpPr>
            <a:spLocks noGrp="1"/>
          </p:cNvSpPr>
          <p:nvPr/>
        </p:nvSpPr>
        <p:spPr>
          <a:xfrm>
            <a:off x="571500" y="4419600"/>
            <a:ext cx="676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100 т жүктің 5 жеткізілімі</a:t>
            </a:r>
          </a:p>
        </p:txBody>
      </p:sp>
      <p:sp>
        <p:nvSpPr>
          <p:cNvPr id="5" name="field">
            <a:extLst>
              <a:ext uri="{FF2B5EF4-FFF2-40B4-BE49-F238E27FC236}">
                <a16:creationId xmlns:a16="http://schemas.microsoft.com/office/drawing/2014/main" id="{47667CF4-70B8-4F21-B4D1-CB3626115AC5}"/>
              </a:ext>
            </a:extLst>
          </p:cNvPr>
          <p:cNvSpPr>
            <a:spLocks noGrp="1"/>
          </p:cNvSpPr>
          <p:nvPr/>
        </p:nvSpPr>
        <p:spPr>
          <a:xfrm>
            <a:off x="571500" y="5219700"/>
            <a:ext cx="10858500" cy="9525"/>
          </a:xfrm>
          <a:prstGeom prst="rect">
            <a:avLst/>
          </a:prstGeom>
          <a:solidFill>
            <a:srgbClr val="FFFCF6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84A78AA8-3D39-4211-88E5-D54E8DA43B3F}"/>
              </a:ext>
            </a:extLst>
          </p:cNvPr>
          <p:cNvSpPr>
            <a:spLocks noGrp="1"/>
          </p:cNvSpPr>
          <p:nvPr/>
        </p:nvSpPr>
        <p:spPr>
          <a:xfrm>
            <a:off x="571500" y="5534025"/>
            <a:ext cx="1085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Екі машина жүкпен бастайды, екеуі бос.</a:t>
            </a:r>
          </a:p>
          <a:p>
            <a: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Бақылау: тежегіш температурасы мен бос тұру.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E13063D3-F8C0-43E5-9B6D-B6684A36202E}"/>
              </a:ext>
            </a:extLst>
          </p:cNvPr>
          <p:cNvSpPr>
            <a:spLocks noGrp="1"/>
          </p:cNvSpPr>
          <p:nvPr/>
        </p:nvSpPr>
        <p:spPr>
          <a:xfrm>
            <a:off x="8162925" y="1562100"/>
            <a:ext cx="3619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49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9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9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9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9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9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9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9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9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9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495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260 л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2A68F08E-89E2-49C0-B7DF-FECDD547C0BF}"/>
              </a:ext>
            </a:extLst>
          </p:cNvPr>
          <p:cNvSpPr>
            <a:spLocks noGrp="1"/>
          </p:cNvSpPr>
          <p:nvPr/>
        </p:nvSpPr>
        <p:spPr>
          <a:xfrm>
            <a:off x="8191500" y="2476500"/>
            <a:ext cx="333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Парктің отын қоры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0D82D59D-3D68-4709-B353-9E439A4090E6}"/>
              </a:ext>
            </a:extLst>
          </p:cNvPr>
          <p:cNvSpPr>
            <a:spLocks noGrp="1"/>
          </p:cNvSpPr>
          <p:nvPr/>
        </p:nvSpPr>
        <p:spPr>
          <a:xfrm>
            <a:off x="8162925" y="3333750"/>
            <a:ext cx="3619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49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9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9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9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9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9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9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9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9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9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49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05:00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05D2D353-A2FE-4A06-903C-23DF901ECBD9}"/>
              </a:ext>
            </a:extLst>
          </p:cNvPr>
          <p:cNvSpPr>
            <a:spLocks noGrp="1"/>
          </p:cNvSpPr>
          <p:nvPr/>
        </p:nvSpPr>
        <p:spPr>
          <a:xfrm>
            <a:off x="8191500" y="4248150"/>
            <a:ext cx="333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Ойын таймері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0A40C1DC-A48A-4A9B-A025-0C77C214BF63}"/>
              </a:ext>
            </a:extLst>
          </p:cNvPr>
          <p:cNvSpPr>
            <a:spLocks noGrp="1"/>
          </p:cNvSpPr>
          <p:nvPr/>
        </p:nvSpPr>
        <p:spPr>
          <a:xfrm>
            <a:off x="571500" y="642937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ORIGAMI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FC55E768-B8EA-46B4-AEE0-92E7F69B11E7}"/>
              </a:ext>
            </a:extLst>
          </p:cNvPr>
          <p:cNvSpPr>
            <a:spLocks noGrp="1"/>
          </p:cNvSpPr>
          <p:nvPr/>
        </p:nvSpPr>
        <p:spPr>
          <a:xfrm>
            <a:off x="11049000" y="63912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2032709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6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6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6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6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6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7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0">
            <a:extLst>
              <a:ext uri="{FF2B5EF4-FFF2-40B4-BE49-F238E27FC236}">
                <a16:creationId xmlns:a16="http://schemas.microsoft.com/office/drawing/2014/main" id="{B4727E34-911D-4CC4-8909-711315E6F10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«ЕГЕР...» СЦЕНАРИЙЛЕРІ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437ACA1-4CB5-4759-8303-E503012105B5}"/>
              </a:ext>
            </a:extLst>
          </p:cNvPr>
          <p:cNvSpPr>
            <a:spLocks noGrp="1"/>
          </p:cNvSpPr>
          <p:nvPr/>
        </p:nvSpPr>
        <p:spPr>
          <a:xfrm>
            <a:off x="571500" y="990600"/>
            <a:ext cx="10953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40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0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0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0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0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0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0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0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0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0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405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Шарт өзгерсе, не болады?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50B3BD4-040C-498C-911B-E8538CED047D}"/>
              </a:ext>
            </a:extLst>
          </p:cNvPr>
          <p:cNvSpPr>
            <a:spLocks noGrp="1"/>
          </p:cNvSpPr>
          <p:nvPr/>
        </p:nvSpPr>
        <p:spPr>
          <a:xfrm>
            <a:off x="571500" y="2447925"/>
            <a:ext cx="1047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11622FE5-1729-4F07-BF9E-B0791B406FDE}"/>
              </a:ext>
            </a:extLst>
          </p:cNvPr>
          <p:cNvSpPr>
            <a:spLocks noGrp="1"/>
          </p:cNvSpPr>
          <p:nvPr/>
        </p:nvSpPr>
        <p:spPr>
          <a:xfrm>
            <a:off x="2000250" y="2238375"/>
            <a:ext cx="9525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55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5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5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5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5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5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5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5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5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5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55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>
                <a:solidFill>
                  <a:srgbClr val="F1EADF"/>
                </a:solidFill>
                <a:latin typeface="DejaVu Sans"/>
                <a:ea typeface="DejaVu Sans"/>
                <a:cs typeface="DejaVu Sans"/>
              </a:rPr>
              <a:t>24 / 36 / 48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28BF33A5-2E28-4476-8D92-7D51DFD657FB}"/>
              </a:ext>
            </a:extLst>
          </p:cNvPr>
          <p:cNvSpPr>
            <a:spLocks noGrp="1"/>
          </p:cNvSpPr>
          <p:nvPr/>
        </p:nvSpPr>
        <p:spPr>
          <a:xfrm>
            <a:off x="2000250" y="3324225"/>
            <a:ext cx="94297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Жылдамдық шегін өзгерту. Бірдей парк пен жол.</a:t>
            </a:r>
          </a:p>
          <a:p>
            <a:pPr>
              <a:defRPr sz="202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Өлшем: жеткізілген тонна, уақыт және отын.</a:t>
            </a:r>
          </a:p>
        </p:txBody>
      </p:sp>
      <p:sp>
        <p:nvSpPr>
          <p:cNvPr id="6" name="field">
            <a:extLst>
              <a:ext uri="{FF2B5EF4-FFF2-40B4-BE49-F238E27FC236}">
                <a16:creationId xmlns:a16="http://schemas.microsoft.com/office/drawing/2014/main" id="{527605DD-CA7B-461D-9764-0D37DBCDC96B}"/>
              </a:ext>
            </a:extLst>
          </p:cNvPr>
          <p:cNvSpPr>
            <a:spLocks noGrp="1"/>
          </p:cNvSpPr>
          <p:nvPr/>
        </p:nvSpPr>
        <p:spPr>
          <a:xfrm>
            <a:off x="571500" y="4352925"/>
            <a:ext cx="10858500" cy="9525"/>
          </a:xfrm>
          <a:prstGeom prst="rect">
            <a:avLst/>
          </a:prstGeom>
          <a:solidFill>
            <a:srgbClr val="202326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64023A3-AE46-4E04-A76C-12A2E1B70005}"/>
              </a:ext>
            </a:extLst>
          </p:cNvPr>
          <p:cNvSpPr>
            <a:spLocks noGrp="1"/>
          </p:cNvSpPr>
          <p:nvPr/>
        </p:nvSpPr>
        <p:spPr>
          <a:xfrm>
            <a:off x="571500" y="4762500"/>
            <a:ext cx="1047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1EAD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B5411744-F186-4733-8724-CA68165B755A}"/>
              </a:ext>
            </a:extLst>
          </p:cNvPr>
          <p:cNvSpPr>
            <a:spLocks noGrp="1"/>
          </p:cNvSpPr>
          <p:nvPr/>
        </p:nvSpPr>
        <p:spPr>
          <a:xfrm>
            <a:off x="2000250" y="4562475"/>
            <a:ext cx="4381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49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9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9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9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9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9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9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9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9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9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4950" b="1">
                <a:solidFill>
                  <a:srgbClr val="F1EADF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F1EADF"/>
                </a:solidFill>
                <a:latin typeface="DejaVu Sans"/>
                <a:ea typeface="DejaVu Sans"/>
                <a:cs typeface="DejaVu Sans"/>
              </a:rPr>
              <a:t>+60 с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0AFAEF07-4486-4AD0-AFCA-ABBD357C470C}"/>
              </a:ext>
            </a:extLst>
          </p:cNvPr>
          <p:cNvSpPr>
            <a:spLocks noGrp="1"/>
          </p:cNvSpPr>
          <p:nvPr/>
        </p:nvSpPr>
        <p:spPr>
          <a:xfrm>
            <a:off x="6191250" y="4752975"/>
            <a:ext cx="5334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«Ручной» режимінде бастау.</a:t>
            </a:r>
          </a:p>
          <a:p>
            <a:pPr>
              <a:defRPr sz="18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60 секундтан соң «Автоматический».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430FCB38-D0F1-45C9-B7C6-499DD16E0778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095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Қайтару: ↺ «Сбросить смену», «Автоматический», 36 км/сағ.</a:t>
            </a:r>
          </a:p>
        </p:txBody>
      </p:sp>
    </p:spTree>
    <p:extLst>
      <p:ext uri="{BB962C8B-B14F-4D97-AF65-F5344CB8AC3E}">
        <p14:creationId xmlns:p14="http://schemas.microsoft.com/office/powerpoint/2010/main" val="208489063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6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6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6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6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6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73CB06E1-12D2-4FAE-9C25-F0A40697FB4E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МОДЕЛЬ ЯДРОСЫНДАҒЫ ТӘЖІРИБЕ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05B75D6-FEB2-415A-A2DE-4B412CCD487C}"/>
              </a:ext>
            </a:extLst>
          </p:cNvPr>
          <p:cNvSpPr>
            <a:spLocks noGrp="1"/>
          </p:cNvSpPr>
          <p:nvPr/>
        </p:nvSpPr>
        <p:spPr>
          <a:xfrm>
            <a:off x="571500" y="971550"/>
            <a:ext cx="3524250" cy="1114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72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2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2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2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2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2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2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2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2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2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72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7200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60 с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E88EA3FF-F995-4189-BD3F-C5AD13C2B717}"/>
              </a:ext>
            </a:extLst>
          </p:cNvPr>
          <p:cNvSpPr>
            <a:spLocks noGrp="1"/>
          </p:cNvSpPr>
          <p:nvPr/>
        </p:nvSpPr>
        <p:spPr>
          <a:xfrm>
            <a:off x="4286250" y="1123950"/>
            <a:ext cx="72390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7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кешігу: жеткізілген жүк</a:t>
            </a:r>
          </a:p>
          <a:p>
            <a:pPr>
              <a:defRPr sz="27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500-ден 400 тоннаға түсті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1B1345A2-BA87-45D4-93F9-232CD5FB235D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10953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6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4 × 100 т. Жоспар 500 т. Уақыт шегі 300 с. Әр тәжірибе бастапқы күйден басталды.</a:t>
            </a:r>
          </a:p>
        </p:txBody>
      </p:sp>
      <p:graphicFrame>
        <p:nvGraphicFramePr>
          <p:cNvPr id="5" name="experiment-table">
            <a:extLst>
              <a:ext uri="{FF2B5EF4-FFF2-40B4-BE49-F238E27FC236}">
                <a16:creationId xmlns:a16="http://schemas.microsoft.com/office/drawing/2014/main" id="{6F15CCB3-AB26-46E4-8456-994232CCCF40}"/>
              </a:ext>
            </a:extLst>
          </p:cNvPr>
          <p:cNvGraphicFramePr/>
          <p:nvPr/>
        </p:nvGraphicFramePr>
        <p:xfrm>
          <a:off x="571500" y="3009900"/>
          <a:ext cx="10953750" cy="2476500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1EAD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Сценарий</a:t>
                      </a:r>
                    </a:p>
                  </a:txBody>
                  <a:tcPr marL="133350" marR="95250" marT="95250" marB="76200">
                    <a:lnL w="9525">
                      <a:solidFill>
                        <a:srgbClr val="D4C7B4"/>
                      </a:solidFill>
                      <a:prstDash val="soli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>
                      <a:solidFill>
                        <a:srgbClr val="D4C7B4"/>
                      </a:solidFill>
                      <a:prstDash val="soli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171A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1EAD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Жүк, т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>
                      <a:solidFill>
                        <a:srgbClr val="D4C7B4"/>
                      </a:solidFill>
                      <a:prstDash val="soli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171A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1EAD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Уақыт, с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>
                      <a:solidFill>
                        <a:srgbClr val="D4C7B4"/>
                      </a:solidFill>
                      <a:prstDash val="soli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171A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1EAD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Отын, л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>
                      <a:solidFill>
                        <a:srgbClr val="D4C7B4"/>
                      </a:solidFill>
                      <a:prstDash val="soli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171A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1EAD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Жоспар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>
                      <a:solidFill>
                        <a:srgbClr val="D4C7B4"/>
                      </a:solidFill>
                      <a:prstDash val="soli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171A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 км/сағ</a:t>
                      </a:r>
                    </a:p>
                  </a:txBody>
                  <a:tcPr marL="133350" marR="95250" marT="95250" marB="76200">
                    <a:lnL w="9525">
                      <a:solidFill>
                        <a:srgbClr val="D4C7B4"/>
                      </a:solidFill>
                      <a:prstDash val="soli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400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300,0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206,5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Орындалмады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F1E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36 км/сағ (база)</a:t>
                      </a:r>
                    </a:p>
                  </a:txBody>
                  <a:tcPr marL="133350" marR="95250" marT="95250" marB="76200">
                    <a:lnL w="9525">
                      <a:solidFill>
                        <a:srgbClr val="D4C7B4"/>
                      </a:solidFill>
                      <a:prstDash val="soli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E3D6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500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E3D6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269,1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E3D6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189,7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E3D6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Орындалды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E3D6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48 км/сағ</a:t>
                      </a:r>
                    </a:p>
                  </a:txBody>
                  <a:tcPr marL="133350" marR="95250" marT="95250" marB="76200">
                    <a:lnL w="9525">
                      <a:solidFill>
                        <a:srgbClr val="D4C7B4"/>
                      </a:solidFill>
                      <a:prstDash val="soli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500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207,8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145,9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Орындалды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F1E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36 км/сағ + 60 с күту</a:t>
                      </a:r>
                    </a:p>
                  </a:txBody>
                  <a:tcPr marL="133350" marR="95250" marT="95250" marB="76200">
                    <a:lnL w="9525">
                      <a:solidFill>
                        <a:srgbClr val="D4C7B4"/>
                      </a:solidFill>
                      <a:prstDash val="soli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400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300,0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180,0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32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Орындалмады</a:t>
                      </a:r>
                    </a:p>
                  </a:txBody>
                  <a:tcPr marL="133350" marR="95250" marT="95250" marB="76200">
                    <a:lnL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C7B4"/>
                      </a:solidFill>
                      <a:prstDash val="solid"/>
                    </a:lnR>
                    <a:lnT w="9525" cap="flat" cmpd="sng" algn="ctr">
                      <a:solidFill>
                        <a:srgbClr val="D4C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C7B4"/>
                      </a:solidFill>
                      <a:prstDash val="solid"/>
                    </a:lnB>
                    <a:solidFill>
                      <a:srgbClr val="F1E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981F3F22-7214-4914-B891-6156B3F3259A}"/>
              </a:ext>
            </a:extLst>
          </p:cNvPr>
          <p:cNvSpPr>
            <a:spLocks noGrp="1"/>
          </p:cNvSpPr>
          <p:nvPr/>
        </p:nvSpPr>
        <p:spPr>
          <a:xfrm>
            <a:off x="571500" y="573405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Уақыт: жоспарға жеткенге немесе 300 с дейін. Отын: жұмсалған көлем.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CDC70393-E858-40D0-A0BF-B915D8A43A36}"/>
              </a:ext>
            </a:extLst>
          </p:cNvPr>
          <p:cNvSpPr>
            <a:spLocks noGrp="1"/>
          </p:cNvSpPr>
          <p:nvPr/>
        </p:nvSpPr>
        <p:spPr>
          <a:xfrm>
            <a:off x="571500" y="6105525"/>
            <a:ext cx="10953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25.10.2026. WebGL-сіз ядро тәжірибесі, қадам 0,05 с. Өндірістік болжам емес.</a:t>
            </a:r>
          </a:p>
        </p:txBody>
      </p:sp>
    </p:spTree>
    <p:extLst>
      <p:ext uri="{BB962C8B-B14F-4D97-AF65-F5344CB8AC3E}">
        <p14:creationId xmlns:p14="http://schemas.microsoft.com/office/powerpoint/2010/main" val="100583142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6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0">
            <a:extLst>
              <a:ext uri="{FF2B5EF4-FFF2-40B4-BE49-F238E27FC236}">
                <a16:creationId xmlns:a16="http://schemas.microsoft.com/office/drawing/2014/main" id="{DFFA5BC9-A296-4392-8073-123644289777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ПЛАТФОРМА ЖӘНЕ ІСКЕ АСЫРУ МӘРТЕБЕСІ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E74B76C6-6CE1-4E9A-9B1F-39708AF8F1B9}"/>
              </a:ext>
            </a:extLst>
          </p:cNvPr>
          <p:cNvSpPr>
            <a:spLocks noGrp="1"/>
          </p:cNvSpPr>
          <p:nvPr/>
        </p:nvSpPr>
        <p:spPr>
          <a:xfrm>
            <a:off x="571500" y="990600"/>
            <a:ext cx="10953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OpenEgiz-пен біріктіру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AC0CC6A9-6D57-42EE-BC15-A3438A6D2C95}"/>
              </a:ext>
            </a:extLst>
          </p:cNvPr>
          <p:cNvSpPr>
            <a:spLocks noGrp="1"/>
          </p:cNvSpPr>
          <p:nvPr/>
        </p:nvSpPr>
        <p:spPr>
          <a:xfrm>
            <a:off x="571500" y="23622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F7723223-DD94-480B-9853-7E94792D71BD}"/>
              </a:ext>
            </a:extLst>
          </p:cNvPr>
          <p:cNvSpPr>
            <a:spLocks noGrp="1"/>
          </p:cNvSpPr>
          <p:nvPr/>
        </p:nvSpPr>
        <p:spPr>
          <a:xfrm>
            <a:off x="1571625" y="2362200"/>
            <a:ext cx="4191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Браузерлік модель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3875C186-D280-42A5-A84D-E18C8D09AD0A}"/>
              </a:ext>
            </a:extLst>
          </p:cNvPr>
          <p:cNvSpPr>
            <a:spLocks noGrp="1"/>
          </p:cNvSpPr>
          <p:nvPr/>
        </p:nvSpPr>
        <p:spPr>
          <a:xfrm>
            <a:off x="6096000" y="2362200"/>
            <a:ext cx="5381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Қозғалыс пен ауысым есебі тексерілді.</a:t>
            </a:r>
          </a:p>
        </p:txBody>
      </p:sp>
      <p:sp>
        <p:nvSpPr>
          <p:cNvPr id="6" name="field">
            <a:extLst>
              <a:ext uri="{FF2B5EF4-FFF2-40B4-BE49-F238E27FC236}">
                <a16:creationId xmlns:a16="http://schemas.microsoft.com/office/drawing/2014/main" id="{4B913C07-1986-4664-B17A-4949CDC8B161}"/>
              </a:ext>
            </a:extLst>
          </p:cNvPr>
          <p:cNvSpPr>
            <a:spLocks noGrp="1"/>
          </p:cNvSpPr>
          <p:nvPr/>
        </p:nvSpPr>
        <p:spPr>
          <a:xfrm>
            <a:off x="1571625" y="2981325"/>
            <a:ext cx="9906000" cy="9525"/>
          </a:xfrm>
          <a:prstGeom prst="rect">
            <a:avLst/>
          </a:prstGeom>
          <a:solidFill>
            <a:srgbClr val="FFFCF6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1FC9E5D4-5E75-4281-BCD5-5A794059FD45}"/>
              </a:ext>
            </a:extLst>
          </p:cNvPr>
          <p:cNvSpPr>
            <a:spLocks noGrp="1"/>
          </p:cNvSpPr>
          <p:nvPr/>
        </p:nvSpPr>
        <p:spPr>
          <a:xfrm>
            <a:off x="571500" y="314325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6A2C8A81-F7B2-4EB5-94EA-0C3BF259E7F0}"/>
              </a:ext>
            </a:extLst>
          </p:cNvPr>
          <p:cNvSpPr>
            <a:spLocks noGrp="1"/>
          </p:cNvSpPr>
          <p:nvPr/>
        </p:nvSpPr>
        <p:spPr>
          <a:xfrm>
            <a:off x="1571625" y="3143250"/>
            <a:ext cx="4191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MQTT және Ditto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AB6074D9-360A-42D6-A6C6-7F18683B1E0D}"/>
              </a:ext>
            </a:extLst>
          </p:cNvPr>
          <p:cNvSpPr>
            <a:spLocks noGrp="1"/>
          </p:cNvSpPr>
          <p:nvPr/>
        </p:nvSpPr>
        <p:spPr>
          <a:xfrm>
            <a:off x="6096000" y="3143250"/>
            <a:ext cx="5381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Талап: telemetry/&lt;двойник&gt; егіз күйін жаңартады.</a:t>
            </a:r>
          </a:p>
        </p:txBody>
      </p:sp>
      <p:sp>
        <p:nvSpPr>
          <p:cNvPr id="10" name="field">
            <a:extLst>
              <a:ext uri="{FF2B5EF4-FFF2-40B4-BE49-F238E27FC236}">
                <a16:creationId xmlns:a16="http://schemas.microsoft.com/office/drawing/2014/main" id="{464807F7-4F92-45C9-9FE5-9F66B4EEEA13}"/>
              </a:ext>
            </a:extLst>
          </p:cNvPr>
          <p:cNvSpPr>
            <a:spLocks noGrp="1"/>
          </p:cNvSpPr>
          <p:nvPr/>
        </p:nvSpPr>
        <p:spPr>
          <a:xfrm>
            <a:off x="1571625" y="3762375"/>
            <a:ext cx="9906000" cy="9525"/>
          </a:xfrm>
          <a:prstGeom prst="rect">
            <a:avLst/>
          </a:prstGeom>
          <a:solidFill>
            <a:srgbClr val="FFFCF6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B1F0BB89-8E50-4FC9-935B-8A11EA470517}"/>
              </a:ext>
            </a:extLst>
          </p:cNvPr>
          <p:cNvSpPr>
            <a:spLocks noGrp="1"/>
          </p:cNvSpPr>
          <p:nvPr/>
        </p:nvSpPr>
        <p:spPr>
          <a:xfrm>
            <a:off x="571500" y="39243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697C9222-619F-4A1D-99CD-2154F3E880FF}"/>
              </a:ext>
            </a:extLst>
          </p:cNvPr>
          <p:cNvSpPr>
            <a:spLocks noGrp="1"/>
          </p:cNvSpPr>
          <p:nvPr/>
        </p:nvSpPr>
        <p:spPr>
          <a:xfrm>
            <a:off x="1571625" y="3924300"/>
            <a:ext cx="4191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Telegraf және InfluxDB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17FB16E5-15B1-42A2-9199-D5738FEA13B0}"/>
              </a:ext>
            </a:extLst>
          </p:cNvPr>
          <p:cNvSpPr>
            <a:spLocks noGrp="1"/>
          </p:cNvSpPr>
          <p:nvPr/>
        </p:nvSpPr>
        <p:spPr>
          <a:xfrm>
            <a:off x="6096000" y="3924300"/>
            <a:ext cx="5381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Талап: телеметрия тарихын сақтау.</a:t>
            </a:r>
          </a:p>
        </p:txBody>
      </p:sp>
      <p:sp>
        <p:nvSpPr>
          <p:cNvPr id="14" name="field">
            <a:extLst>
              <a:ext uri="{FF2B5EF4-FFF2-40B4-BE49-F238E27FC236}">
                <a16:creationId xmlns:a16="http://schemas.microsoft.com/office/drawing/2014/main" id="{B36C09E7-5132-485B-A165-94B99DA413BE}"/>
              </a:ext>
            </a:extLst>
          </p:cNvPr>
          <p:cNvSpPr>
            <a:spLocks noGrp="1"/>
          </p:cNvSpPr>
          <p:nvPr/>
        </p:nvSpPr>
        <p:spPr>
          <a:xfrm>
            <a:off x="1571625" y="4543425"/>
            <a:ext cx="9906000" cy="9525"/>
          </a:xfrm>
          <a:prstGeom prst="rect">
            <a:avLst/>
          </a:prstGeom>
          <a:solidFill>
            <a:srgbClr val="FFFCF6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4A46DF95-8854-407E-B886-D3519EF169E5}"/>
              </a:ext>
            </a:extLst>
          </p:cNvPr>
          <p:cNvSpPr>
            <a:spLocks noGrp="1"/>
          </p:cNvSpPr>
          <p:nvPr/>
        </p:nvSpPr>
        <p:spPr>
          <a:xfrm>
            <a:off x="571500" y="470535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5E18436A-85C2-48C4-B9BB-0AD298F1A033}"/>
              </a:ext>
            </a:extLst>
          </p:cNvPr>
          <p:cNvSpPr>
            <a:spLocks noGrp="1"/>
          </p:cNvSpPr>
          <p:nvPr/>
        </p:nvSpPr>
        <p:spPr>
          <a:xfrm>
            <a:off x="1571625" y="4705350"/>
            <a:ext cx="4191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Grafana және 3D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B7A70F82-B1A3-485D-810E-640214D5162A}"/>
              </a:ext>
            </a:extLst>
          </p:cNvPr>
          <p:cNvSpPr>
            <a:spLocks noGrp="1"/>
          </p:cNvSpPr>
          <p:nvPr/>
        </p:nvSpPr>
        <p:spPr>
          <a:xfrm>
            <a:off x="6096000" y="4705350"/>
            <a:ext cx="5381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Талап: интерфейс күйді платформадан оқиды.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3AF16427-679E-476F-B4F6-517DE1FE07E7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095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MQTT, Ditto және Grafana интеграциясы осы тексеруде расталмады.</a:t>
            </a:r>
          </a:p>
        </p:txBody>
      </p:sp>
    </p:spTree>
    <p:extLst>
      <p:ext uri="{BB962C8B-B14F-4D97-AF65-F5344CB8AC3E}">
        <p14:creationId xmlns:p14="http://schemas.microsoft.com/office/powerpoint/2010/main" val="146852497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6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6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6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6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6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65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65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65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960"/>
                            </p:stCondLst>
                            <p:childTnLst>
                              <p:set>
                                <p:cBhvr>
                                  <p:cTn id="35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65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960"/>
                            </p:stCondLst>
                            <p:childTnLst>
                              <p:set>
                                <p:cBhvr>
                                  <p:cTn id="38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65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960"/>
                            </p:stCondLst>
                            <p:childTnLst>
                              <p:set>
                                <p:cBhvr>
                                  <p:cTn id="41" dur="1" fill="hold"/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650" fill="hold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132BE27C-E31A-418F-8954-8DEB94CF3A89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ДЕРЕКТЕР ЖӘНЕ БОЛЖАМДАР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13C9063-7A35-49AD-B2A7-A640814ADE6D}"/>
              </a:ext>
            </a:extLst>
          </p:cNvPr>
          <p:cNvSpPr>
            <a:spLocks noGrp="1"/>
          </p:cNvSpPr>
          <p:nvPr/>
        </p:nvSpPr>
        <p:spPr>
          <a:xfrm>
            <a:off x="571500" y="990600"/>
            <a:ext cx="10953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45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5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5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5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5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5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5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5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5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5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4500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Модельдің шекарасы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AD6AC353-AC95-4811-AE91-631F2D43F2A8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5286375" cy="1057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62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62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62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62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62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62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62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62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62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62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62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6225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92,2 т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C653A586-4B01-4145-B0BA-B838344A4FFC}"/>
              </a:ext>
            </a:extLst>
          </p:cNvPr>
          <p:cNvSpPr>
            <a:spLocks noGrp="1"/>
          </p:cNvSpPr>
          <p:nvPr/>
        </p:nvSpPr>
        <p:spPr>
          <a:xfrm>
            <a:off x="571500" y="3514725"/>
            <a:ext cx="528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Komatsu HD785-8 [2]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1B65E751-6A87-4E20-83B2-46CCC7AF4C65}"/>
              </a:ext>
            </a:extLst>
          </p:cNvPr>
          <p:cNvSpPr>
            <a:spLocks noGrp="1"/>
          </p:cNvSpPr>
          <p:nvPr/>
        </p:nvSpPr>
        <p:spPr>
          <a:xfrm>
            <a:off x="571500" y="4095750"/>
            <a:ext cx="5238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Нақты техника класының аналогы.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0217FE14-BC6A-425E-A13F-754DEC846600}"/>
              </a:ext>
            </a:extLst>
          </p:cNvPr>
          <p:cNvSpPr>
            <a:spLocks noGrp="1"/>
          </p:cNvSpPr>
          <p:nvPr/>
        </p:nvSpPr>
        <p:spPr>
          <a:xfrm>
            <a:off x="6667500" y="2390775"/>
            <a:ext cx="5048250" cy="1057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62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62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62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62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62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62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62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62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62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62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62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6225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100 т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53A2DD3E-2C49-42E6-8295-7D7AF4A895AE}"/>
              </a:ext>
            </a:extLst>
          </p:cNvPr>
          <p:cNvSpPr>
            <a:spLocks noGrp="1"/>
          </p:cNvSpPr>
          <p:nvPr/>
        </p:nvSpPr>
        <p:spPr>
          <a:xfrm>
            <a:off x="6667500" y="3514725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Симулятор параметрі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DB5AF622-6EDC-4BEE-99B1-97B7AFA6A8BF}"/>
              </a:ext>
            </a:extLst>
          </p:cNvPr>
          <p:cNvSpPr>
            <a:spLocks noGrp="1"/>
          </p:cNvSpPr>
          <p:nvPr/>
        </p:nvSpPr>
        <p:spPr>
          <a:xfrm>
            <a:off x="6667500" y="4095750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Паспорттық мәнмен теңестірілмейді.</a:t>
            </a:r>
          </a:p>
        </p:txBody>
      </p:sp>
      <p:sp>
        <p:nvSpPr>
          <p:cNvPr id="9" name="field">
            <a:extLst>
              <a:ext uri="{FF2B5EF4-FFF2-40B4-BE49-F238E27FC236}">
                <a16:creationId xmlns:a16="http://schemas.microsoft.com/office/drawing/2014/main" id="{DD11EA0C-992D-4DA5-BDD5-C2B5B86E4A9C}"/>
              </a:ext>
            </a:extLst>
          </p:cNvPr>
          <p:cNvSpPr>
            <a:spLocks noGrp="1"/>
          </p:cNvSpPr>
          <p:nvPr/>
        </p:nvSpPr>
        <p:spPr>
          <a:xfrm>
            <a:off x="571500" y="4953000"/>
            <a:ext cx="10953750" cy="9525"/>
          </a:xfrm>
          <a:prstGeom prst="rect">
            <a:avLst/>
          </a:prstGeom>
          <a:solidFill>
            <a:srgbClr val="D4C7B4"/>
          </a:solidFill>
          <a:ln w="0">
            <a:noFill/>
            <a:prstDash val="solid"/>
          </a:ln>
        </p:spPr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AA68C114-C457-4950-8F2F-283BC2DA4F9C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095375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Синтетикалық геометрия. Қозғалыс ×8, тиеу 7 с, түсіру 4 с.</a:t>
            </a:r>
          </a:p>
          <a:p>
            <a: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260 л отын мен қызу формуласы ойын теңгеріміне арналған.</a:t>
            </a:r>
          </a:p>
          <a:p>
            <a:pPr>
              <a:def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Нақты кен орнына байланыс және өндірістік калибрлеу жоқ.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544C46B2-833D-450A-9761-E65DD242F463}"/>
              </a:ext>
            </a:extLst>
          </p:cNvPr>
          <p:cNvSpPr>
            <a:spLocks noGrp="1"/>
          </p:cNvSpPr>
          <p:nvPr/>
        </p:nvSpPr>
        <p:spPr>
          <a:xfrm>
            <a:off x="571500" y="642937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ORIGAMI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11DACF41-81DE-4746-A750-52A799EA6013}"/>
              </a:ext>
            </a:extLst>
          </p:cNvPr>
          <p:cNvSpPr>
            <a:spLocks noGrp="1"/>
          </p:cNvSpPr>
          <p:nvPr/>
        </p:nvSpPr>
        <p:spPr>
          <a:xfrm>
            <a:off x="11049000" y="6391275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8843819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6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6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6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6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6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65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6321E346-2031-4375-9B33-17321EAE565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СТЕНДТЕ КӨРСЕТУ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39C315D-C10F-4875-8B68-712D3D5F7F52}"/>
              </a:ext>
            </a:extLst>
          </p:cNvPr>
          <p:cNvSpPr>
            <a:spLocks noGrp="1"/>
          </p:cNvSpPr>
          <p:nvPr/>
        </p:nvSpPr>
        <p:spPr>
          <a:xfrm>
            <a:off x="571500" y="990600"/>
            <a:ext cx="10953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Сценарийді қайталау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8CFA642D-3FEB-4203-8FDE-B731A6B76A29}"/>
              </a:ext>
            </a:extLst>
          </p:cNvPr>
          <p:cNvSpPr>
            <a:spLocks noGrp="1"/>
          </p:cNvSpPr>
          <p:nvPr/>
        </p:nvSpPr>
        <p:spPr>
          <a:xfrm>
            <a:off x="571500" y="2333625"/>
            <a:ext cx="76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43F6CABD-7A1C-4B4A-900F-247FAF6BA97F}"/>
              </a:ext>
            </a:extLst>
          </p:cNvPr>
          <p:cNvSpPr>
            <a:spLocks noGrp="1"/>
          </p:cNvSpPr>
          <p:nvPr/>
        </p:nvSpPr>
        <p:spPr>
          <a:xfrm>
            <a:off x="1762125" y="2333625"/>
            <a:ext cx="9715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Базалық ауысым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E1C59492-BD02-49F1-8276-801BB06BAD1F}"/>
              </a:ext>
            </a:extLst>
          </p:cNvPr>
          <p:cNvSpPr>
            <a:spLocks noGrp="1"/>
          </p:cNvSpPr>
          <p:nvPr/>
        </p:nvSpPr>
        <p:spPr>
          <a:xfrm>
            <a:off x="1762125" y="2867025"/>
            <a:ext cx="9715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↺, «Автоматический», 36 км/сағ, «Начать смену».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C7D77F1D-AD2A-45E4-956D-90FCF53986DB}"/>
              </a:ext>
            </a:extLst>
          </p:cNvPr>
          <p:cNvSpPr>
            <a:spLocks noGrp="1"/>
          </p:cNvSpPr>
          <p:nvPr/>
        </p:nvSpPr>
        <p:spPr>
          <a:xfrm>
            <a:off x="571500" y="3467100"/>
            <a:ext cx="76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84F00B55-EEBB-41C5-85EF-C56516DCB1EE}"/>
              </a:ext>
            </a:extLst>
          </p:cNvPr>
          <p:cNvSpPr>
            <a:spLocks noGrp="1"/>
          </p:cNvSpPr>
          <p:nvPr/>
        </p:nvSpPr>
        <p:spPr>
          <a:xfrm>
            <a:off x="1762125" y="3467100"/>
            <a:ext cx="9715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Жылдамдық сценарийі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D13AED79-D087-4A3F-99DE-094D86680D05}"/>
              </a:ext>
            </a:extLst>
          </p:cNvPr>
          <p:cNvSpPr>
            <a:spLocks noGrp="1"/>
          </p:cNvSpPr>
          <p:nvPr/>
        </p:nvSpPr>
        <p:spPr>
          <a:xfrm>
            <a:off x="1762125" y="4000500"/>
            <a:ext cx="9715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↺, 24 км/сағ. Қайталау. Кейін ↺, 48 км/сағ.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62182B31-1C09-4F10-B99B-0A0E27CA8189}"/>
              </a:ext>
            </a:extLst>
          </p:cNvPr>
          <p:cNvSpPr>
            <a:spLocks noGrp="1"/>
          </p:cNvSpPr>
          <p:nvPr/>
        </p:nvSpPr>
        <p:spPr>
          <a:xfrm>
            <a:off x="571500" y="4600575"/>
            <a:ext cx="76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C8F5E014-9E9B-445F-8227-D9AB4E819118}"/>
              </a:ext>
            </a:extLst>
          </p:cNvPr>
          <p:cNvSpPr>
            <a:spLocks noGrp="1"/>
          </p:cNvSpPr>
          <p:nvPr/>
        </p:nvSpPr>
        <p:spPr>
          <a:xfrm>
            <a:off x="1762125" y="4600575"/>
            <a:ext cx="9715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Кешігу сценарийі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15191782-55AA-415C-BF38-070F6AD2EFCB}"/>
              </a:ext>
            </a:extLst>
          </p:cNvPr>
          <p:cNvSpPr>
            <a:spLocks noGrp="1"/>
          </p:cNvSpPr>
          <p:nvPr/>
        </p:nvSpPr>
        <p:spPr>
          <a:xfrm>
            <a:off x="1762125" y="5133975"/>
            <a:ext cx="9715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↺, 36 км/сағ, «Ручной», «Начать смену».</a:t>
            </a:r>
          </a:p>
          <a:p>
            <a: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04:00 қалғанда «Автоматический».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65089C51-2066-4B16-B484-CE0380A71AEC}"/>
              </a:ext>
            </a:extLst>
          </p:cNvPr>
          <p:cNvSpPr>
            <a:spLocks noGrp="1"/>
          </p:cNvSpPr>
          <p:nvPr/>
        </p:nvSpPr>
        <p:spPr>
          <a:xfrm>
            <a:off x="571500" y="6086475"/>
            <a:ext cx="1095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openegiz.ecoout.com.kz/dispatch.html?mode=classic</a:t>
            </a:r>
          </a:p>
        </p:txBody>
      </p:sp>
    </p:spTree>
    <p:extLst>
      <p:ext uri="{BB962C8B-B14F-4D97-AF65-F5344CB8AC3E}">
        <p14:creationId xmlns:p14="http://schemas.microsoft.com/office/powerpoint/2010/main" val="156478539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6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6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6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6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6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6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6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9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65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65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0">
            <a:extLst>
              <a:ext uri="{FF2B5EF4-FFF2-40B4-BE49-F238E27FC236}">
                <a16:creationId xmlns:a16="http://schemas.microsoft.com/office/drawing/2014/main" id="{7F92C5A1-EAA4-4C7A-87B5-2B9CC41281E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ДЕРЕККӨЗДЕР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61D2E55-1699-4EF4-91BE-4522043F208A}"/>
              </a:ext>
            </a:extLst>
          </p:cNvPr>
          <p:cNvSpPr>
            <a:spLocks noGrp="1"/>
          </p:cNvSpPr>
          <p:nvPr/>
        </p:nvSpPr>
        <p:spPr>
          <a:xfrm>
            <a:off x="571500" y="990600"/>
            <a:ext cx="10953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6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67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Сандардың қайдан алынғаны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6532C9E2-F068-4932-8E07-F0504DF136D2}"/>
              </a:ext>
            </a:extLst>
          </p:cNvPr>
          <p:cNvSpPr>
            <a:spLocks noGrp="1"/>
          </p:cNvSpPr>
          <p:nvPr/>
        </p:nvSpPr>
        <p:spPr>
          <a:xfrm>
            <a:off x="571500" y="2295525"/>
            <a:ext cx="57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5AB0215B-2CB1-4B74-B410-B8F3D286E1DB}"/>
              </a:ext>
            </a:extLst>
          </p:cNvPr>
          <p:cNvSpPr>
            <a:spLocks noGrp="1"/>
          </p:cNvSpPr>
          <p:nvPr/>
        </p:nvSpPr>
        <p:spPr>
          <a:xfrm>
            <a:off x="1352550" y="2295525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Өндірістік мәселе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855D463A-722A-4D49-8E86-3DF9BE303086}"/>
              </a:ext>
            </a:extLst>
          </p:cNvPr>
          <p:cNvSpPr>
            <a:spLocks noGrp="1"/>
          </p:cNvSpPr>
          <p:nvPr/>
        </p:nvSpPr>
        <p:spPr>
          <a:xfrm>
            <a:off x="1352550" y="2800350"/>
            <a:ext cx="4524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Kaufman, W. W. және Ault, J. C.</a:t>
            </a:r>
          </a:p>
          <a:p>
            <a: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USBM IC 8758. Design of Surface</a:t>
            </a:r>
          </a:p>
          <a:p>
            <a: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Mine Haulage Roads.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45619A65-B765-43A6-B778-EE9F6F854FB3}"/>
              </a:ext>
            </a:extLst>
          </p:cNvPr>
          <p:cNvSpPr>
            <a:spLocks noGrp="1"/>
          </p:cNvSpPr>
          <p:nvPr/>
        </p:nvSpPr>
        <p:spPr>
          <a:xfrm>
            <a:off x="1352550" y="3705225"/>
            <a:ext cx="4524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stacks.cdc.gov/view/cdc/8915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23C0D68-BDBF-44AC-A7E0-1FDEC250BFD7}"/>
              </a:ext>
            </a:extLst>
          </p:cNvPr>
          <p:cNvSpPr>
            <a:spLocks noGrp="1"/>
          </p:cNvSpPr>
          <p:nvPr/>
        </p:nvSpPr>
        <p:spPr>
          <a:xfrm>
            <a:off x="571500" y="4324350"/>
            <a:ext cx="57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F65542F0-CCE4-4CBD-8F15-0052AFB1601D}"/>
              </a:ext>
            </a:extLst>
          </p:cNvPr>
          <p:cNvSpPr>
            <a:spLocks noGrp="1"/>
          </p:cNvSpPr>
          <p:nvPr/>
        </p:nvSpPr>
        <p:spPr>
          <a:xfrm>
            <a:off x="1352550" y="432435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Техника аналогы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E05A2F87-464D-44F2-8754-57145307FD9E}"/>
              </a:ext>
            </a:extLst>
          </p:cNvPr>
          <p:cNvSpPr>
            <a:spLocks noGrp="1"/>
          </p:cNvSpPr>
          <p:nvPr/>
        </p:nvSpPr>
        <p:spPr>
          <a:xfrm>
            <a:off x="1352550" y="4829175"/>
            <a:ext cx="4524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Komatsu HD785-8 ресми парағы.</a:t>
            </a:r>
          </a:p>
          <a:p>
            <a: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Rated payload: 92,2 т.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EB34F107-1379-4A47-8FC2-A8337430576E}"/>
              </a:ext>
            </a:extLst>
          </p:cNvPr>
          <p:cNvSpPr>
            <a:spLocks noGrp="1"/>
          </p:cNvSpPr>
          <p:nvPr/>
        </p:nvSpPr>
        <p:spPr>
          <a:xfrm>
            <a:off x="1352550" y="5734050"/>
            <a:ext cx="4524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komatsu.eu/en/dump-trucks/</a:t>
            </a:r>
          </a:p>
          <a:p>
            <a: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rigid-dump-trucks/hd785-8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F9997EA0-890E-488C-9154-A5DEB4B47BCB}"/>
              </a:ext>
            </a:extLst>
          </p:cNvPr>
          <p:cNvSpPr>
            <a:spLocks noGrp="1"/>
          </p:cNvSpPr>
          <p:nvPr/>
        </p:nvSpPr>
        <p:spPr>
          <a:xfrm>
            <a:off x="6572250" y="2295525"/>
            <a:ext cx="57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96887E45-CF55-456D-BF5F-C0FC75B1EEB0}"/>
              </a:ext>
            </a:extLst>
          </p:cNvPr>
          <p:cNvSpPr>
            <a:spLocks noGrp="1"/>
          </p:cNvSpPr>
          <p:nvPr/>
        </p:nvSpPr>
        <p:spPr>
          <a:xfrm>
            <a:off x="7353300" y="2295525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Модель мен тәжірибе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2838BABE-13FD-455C-A032-9EFCD69F1619}"/>
              </a:ext>
            </a:extLst>
          </p:cNvPr>
          <p:cNvSpPr>
            <a:spLocks noGrp="1"/>
          </p:cNvSpPr>
          <p:nvPr/>
        </p:nvSpPr>
        <p:spPr>
          <a:xfrm>
            <a:off x="7353300" y="2800350"/>
            <a:ext cx="4524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dispatch-core.mjs, road-route.json,</a:t>
            </a:r>
          </a:p>
          <a:p>
            <a: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terrain-design.json.</a:t>
            </a:r>
          </a:p>
          <a:p>
            <a: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Тексеру: 25.10.2026.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24A7A0AD-7853-4669-95C6-9E916F7FD19B}"/>
              </a:ext>
            </a:extLst>
          </p:cNvPr>
          <p:cNvSpPr>
            <a:spLocks noGrp="1"/>
          </p:cNvSpPr>
          <p:nvPr/>
        </p:nvSpPr>
        <p:spPr>
          <a:xfrm>
            <a:off x="7353300" y="3705225"/>
            <a:ext cx="4524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openegiz.ecoout.com.kz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F2219422-500E-4FB1-B3B0-234A062B909E}"/>
              </a:ext>
            </a:extLst>
          </p:cNvPr>
          <p:cNvSpPr>
            <a:spLocks noGrp="1"/>
          </p:cNvSpPr>
          <p:nvPr/>
        </p:nvSpPr>
        <p:spPr>
          <a:xfrm>
            <a:off x="6572250" y="4324350"/>
            <a:ext cx="57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A7442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944D12DB-B8D6-4F61-B5E2-334BE843958D}"/>
              </a:ext>
            </a:extLst>
          </p:cNvPr>
          <p:cNvSpPr>
            <a:spLocks noGrp="1"/>
          </p:cNvSpPr>
          <p:nvPr/>
        </p:nvSpPr>
        <p:spPr>
          <a:xfrm>
            <a:off x="7353300" y="432435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Платформа талабы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EECCF189-0EB3-49C7-BCED-7B37E0213298}"/>
              </a:ext>
            </a:extLst>
          </p:cNvPr>
          <p:cNvSpPr>
            <a:spLocks noGrp="1"/>
          </p:cNvSpPr>
          <p:nvPr/>
        </p:nvSpPr>
        <p:spPr>
          <a:xfrm>
            <a:off x="7353300" y="4829175"/>
            <a:ext cx="4524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OpenEgiz README: Build your own twins.</a:t>
            </a:r>
          </a:p>
          <a:p>
            <a: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Конкурс ережесі және</a:t>
            </a:r>
          </a:p>
          <a:p>
            <a:pPr>
              <a:def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756F67"/>
                </a:solidFill>
                <a:latin typeface="DejaVu Sans"/>
                <a:ea typeface="DejaVu Sans"/>
                <a:cs typeface="DejaVu Sans"/>
              </a:rPr>
              <a:t>«Замысел и презентация» рубрикасы.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EA53365B-D380-4B51-8999-BB7B8AA3F882}"/>
              </a:ext>
            </a:extLst>
          </p:cNvPr>
          <p:cNvSpPr>
            <a:spLocks noGrp="1"/>
          </p:cNvSpPr>
          <p:nvPr/>
        </p:nvSpPr>
        <p:spPr>
          <a:xfrm>
            <a:off x="7353300" y="5734050"/>
            <a:ext cx="4524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02326"/>
                </a:solidFill>
                <a:latin typeface="DejaVu Sans"/>
                <a:ea typeface="DejaVu Sans"/>
                <a:cs typeface="DejaVu Sans"/>
              </a:rPr>
              <a:t>github.com/aleka07/openegiz</a:t>
            </a:r>
          </a:p>
        </p:txBody>
      </p:sp>
    </p:spTree>
    <p:extLst>
      <p:ext uri="{BB962C8B-B14F-4D97-AF65-F5344CB8AC3E}">
        <p14:creationId xmlns:p14="http://schemas.microsoft.com/office/powerpoint/2010/main" val="103307995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6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8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6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65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65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4321F3C-E541-4750-B754-FA026DA990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field">
            <a:extLst>
              <a:ext uri="{FF2B5EF4-FFF2-40B4-BE49-F238E27FC236}">
                <a16:creationId xmlns:a16="http://schemas.microsoft.com/office/drawing/2014/main" id="{480D599F-5A5C-4C2C-86F6-E17127479B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317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82825DD2-A970-46F5-8E53-4684B2442D72}"/>
              </a:ext>
            </a:extLst>
          </p:cNvPr>
          <p:cNvSpPr>
            <a:spLocks noGrp="1"/>
          </p:cNvSpPr>
          <p:nvPr/>
        </p:nvSpPr>
        <p:spPr>
          <a:xfrm>
            <a:off x="514350" y="838200"/>
            <a:ext cx="11144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88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8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8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8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8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8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8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8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8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8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8850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8850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ORIGAMI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8076B64E-9082-4446-B5B8-5DDBEB834107}"/>
              </a:ext>
            </a:extLst>
          </p:cNvPr>
          <p:cNvSpPr>
            <a:spLocks noGrp="1"/>
          </p:cNvSpPr>
          <p:nvPr/>
        </p:nvSpPr>
        <p:spPr>
          <a:xfrm>
            <a:off x="571500" y="2838450"/>
            <a:ext cx="10858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Көлік қозғалысын</a:t>
            </a:r>
          </a:p>
          <a:p>
            <a:pPr>
              <a:def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4425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түсіну және басқару</a:t>
            </a:r>
          </a:p>
        </p:txBody>
      </p:sp>
      <p:sp>
        <p:nvSpPr>
          <p:cNvPr id="5" name="field">
            <a:extLst>
              <a:ext uri="{FF2B5EF4-FFF2-40B4-BE49-F238E27FC236}">
                <a16:creationId xmlns:a16="http://schemas.microsoft.com/office/drawing/2014/main" id="{33836CCF-0472-4181-91E4-9ACFC68202B2}"/>
              </a:ext>
            </a:extLst>
          </p:cNvPr>
          <p:cNvSpPr>
            <a:spLocks noGrp="1"/>
          </p:cNvSpPr>
          <p:nvPr/>
        </p:nvSpPr>
        <p:spPr>
          <a:xfrm>
            <a:off x="571500" y="5191125"/>
            <a:ext cx="10953750" cy="9525"/>
          </a:xfrm>
          <a:prstGeom prst="rect">
            <a:avLst/>
          </a:prstGeom>
          <a:solidFill>
            <a:srgbClr val="FFFCF6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F78BBDCA-054F-4998-993C-2D5D857CB34C}"/>
              </a:ext>
            </a:extLst>
          </p:cNvPr>
          <p:cNvSpPr>
            <a:spLocks noGrp="1"/>
          </p:cNvSpPr>
          <p:nvPr/>
        </p:nvSpPr>
        <p:spPr>
          <a:xfrm>
            <a:off x="571500" y="5619750"/>
            <a:ext cx="5715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FFCF6"/>
                </a:solidFill>
                <a:latin typeface="DejaVu Sans"/>
                <a:ea typeface="DejaVu Sans"/>
                <a:cs typeface="DejaVu Sans"/>
              </a:rPr>
              <a:t>Мерген Динара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47C336D4-7EB9-42E9-BF6B-1D0D5D34A032}"/>
              </a:ext>
            </a:extLst>
          </p:cNvPr>
          <p:cNvSpPr>
            <a:spLocks noGrp="1"/>
          </p:cNvSpPr>
          <p:nvPr/>
        </p:nvSpPr>
        <p:spPr>
          <a:xfrm>
            <a:off x="6858000" y="566737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openegiz.ecoout.com.kz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05084D68-8F32-4A74-A72F-79ABF36EBB53}"/>
              </a:ext>
            </a:extLst>
          </p:cNvPr>
          <p:cNvSpPr>
            <a:spLocks noGrp="1"/>
          </p:cNvSpPr>
          <p:nvPr/>
        </p:nvSpPr>
        <p:spPr>
          <a:xfrm>
            <a:off x="571500" y="6334125"/>
            <a:ext cx="10572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CFC3B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CFC3B1"/>
                </a:solidFill>
                <a:latin typeface="DejaVu Sans"/>
                <a:ea typeface="DejaVu Sans"/>
                <a:cs typeface="DejaVu Sans"/>
              </a:rPr>
              <a:t>Көлік циклі. Учаскені резервтеу. Екі «егер...» сценарийі.</a:t>
            </a:r>
          </a:p>
        </p:txBody>
      </p:sp>
    </p:spTree>
    <p:extLst>
      <p:ext uri="{BB962C8B-B14F-4D97-AF65-F5344CB8AC3E}">
        <p14:creationId xmlns:p14="http://schemas.microsoft.com/office/powerpoint/2010/main" val="12066107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6" presetClass="emph" presetSubtype="0" fill="hold" nodeType="withEffect">
                            <p:stCondLst>
                              <p:cond delay="0"/>
                            </p:stCondLst>
                            <p:childTnLst>
                              <p:animScale zoomContents="1">
                                <p:cBhvr>
                                  <p:cTn id="5" dur="4000" fill="hold"/>
                                  <p:tgtEl>
                                    <p:spTgt spid="9"/>
                                  </p:tgtEl>
                                </p:cBhvr>
                                <p:from x="108000" y="108000"/>
                                <p:to x="100000" y="100000"/>
                              </p:animScale>
                            </p:childTnLst>
                          </p:cTn>
                        </p:par>
                        <p:par>
                          <p:cTn id="6" presetID="10" presetClass="entr" presetSubtype="0" fill="hold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6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6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6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16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6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750</Words>
  <Application>Microsoft Office PowerPoint</Application>
  <DocSecurity>0</DocSecurity>
  <PresentationFormat>Широкоэкранный</PresentationFormat>
  <Paragraphs>190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Aptos</vt:lpstr>
      <vt:lpstr>DejaVu Sans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dinaramergen9@gmail.com</cp:lastModifiedBy>
  <cp:revision>2</cp:revision>
  <dcterms:created xsi:type="dcterms:W3CDTF">2026-10-25T13:34:28Z</dcterms:created>
  <dcterms:modified xsi:type="dcterms:W3CDTF">2026-10-25T14:02:20Z</dcterms:modified>
</cp:coreProperties>
</file>